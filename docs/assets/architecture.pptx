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7498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0588752" cy="42062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48">
                <a:solidFill>
                  <a:srgbClr val="172C44"/>
                </a:solidFill>
                <a:latin typeface="Microsoft YaHei"/>
              </a:defRPr>
            </a:pPr>
            <a:r>
              <a:t>Robot-vLLM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40080"/>
            <a:ext cx="10588752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55">
                <a:solidFill>
                  <a:srgbClr val="4B6176"/>
                </a:solidFill>
                <a:latin typeface="Microsoft YaHei"/>
              </a:defRPr>
            </a:pPr>
            <a:r>
              <a:t>连接模型与机器人：推理调度 → 新鲜观测 → 校验与执行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3063240" cy="100584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40587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应用 / 用户任务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6776"/>
            <a:ext cx="1040587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HTTP API · 任务 ID · 取消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8" y="1143000"/>
            <a:ext cx="3200400" cy="100584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33087" y="1280160"/>
            <a:ext cx="683971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GPT-6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7" y="1636776"/>
            <a:ext cx="683971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生成 DAG · 分配能力 · 安排依赖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62672" y="1143000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280160"/>
            <a:ext cx="3127248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模型服务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636776"/>
            <a:ext cx="312724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GPT / OpenPI Pi 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47288" y="1627632"/>
            <a:ext cx="484632" cy="0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50608" y="1627632"/>
            <a:ext cx="493775" cy="0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" y="2514600"/>
            <a:ext cx="10204704" cy="1874519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>
            <a:solidFill>
              <a:srgbClr val="258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51760"/>
            <a:ext cx="1040587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Robot-vLLM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90672"/>
            <a:ext cx="2971800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B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27832"/>
            <a:ext cx="1022299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01  推理与观测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584448"/>
            <a:ext cx="10222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跨任务共享队列 · 有界并发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31336"/>
            <a:ext cx="10222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获得名额后采样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5928" y="3090672"/>
            <a:ext cx="2971800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B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3227832"/>
            <a:ext cx="679399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02  指令校验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584448"/>
            <a:ext cx="6793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能力参数 · 原始观测票据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3831336"/>
            <a:ext cx="6793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拒绝过期与迟到结果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4927" y="3090672"/>
            <a:ext cx="2971800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B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3227832"/>
            <a:ext cx="336499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03  执行与恢复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3584448"/>
            <a:ext cx="3364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资源预约 · 原生取消确认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831336"/>
            <a:ext cx="336499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持久化 · 重启后查询动作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59552" y="2148840"/>
            <a:ext cx="0" cy="347472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34856" y="2148840"/>
            <a:ext cx="0" cy="347472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38728" y="3602736"/>
            <a:ext cx="438911" cy="0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67728" y="3602736"/>
            <a:ext cx="438912" cy="0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84048" y="4791456"/>
            <a:ext cx="640080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928616"/>
            <a:ext cx="1040587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ROS 2 / 设备适配器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285232"/>
            <a:ext cx="1040587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Topics：相机与状态     Actions：机械臂与夹爪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32120"/>
            <a:ext cx="1040587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Services：扫描等功能      →      多机器人 / 仿真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4389120"/>
            <a:ext cx="0" cy="384048"/>
          </a:xfrm>
          <a:prstGeom prst="line">
            <a:avLst/>
          </a:prstGeom>
          <a:ln w="25400">
            <a:solidFill>
              <a:srgbClr val="5574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150608" y="4791456"/>
            <a:ext cx="3438144" cy="1060704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>
            <a:solidFill>
              <a:srgbClr val="B88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4928616"/>
            <a:ext cx="363931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共享感知服务  ·  显式接入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5285232"/>
            <a:ext cx="363931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同帧同问题合并 · 多方订阅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5532120"/>
            <a:ext cx="363931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场景变化 / 超龄 → 旧结果失效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0058400" y="4407408"/>
            <a:ext cx="0" cy="384048"/>
          </a:xfrm>
          <a:prstGeom prst="line">
            <a:avLst/>
          </a:prstGeom>
          <a:ln w="25400">
            <a:solidFill>
              <a:srgbClr val="B888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87184" y="5925312"/>
            <a:ext cx="3785615" cy="24688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80">
                <a:solidFill>
                  <a:srgbClr val="795B30"/>
                </a:solidFill>
                <a:latin typeface="Microsoft YaHei"/>
              </a:defRPr>
            </a:pPr>
            <a:r>
              <a:t>已由独立对照验证；未自动接入全部 ROS 驱动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" y="6400800"/>
            <a:ext cx="10204704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537960"/>
            <a:ext cx="10405872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28">
                <a:solidFill>
                  <a:srgbClr val="172C44"/>
                </a:solidFill>
                <a:latin typeface="Microsoft YaHei"/>
              </a:defRPr>
            </a:pPr>
            <a:r>
              <a:t>简单任务：同一顶视相机下，四个滑块移动到各自颜色目标所在列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" y="6830568"/>
            <a:ext cx="103967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96">
                <a:solidFill>
                  <a:srgbClr val="4B6176"/>
                </a:solidFill>
                <a:latin typeface="Microsoft YaHei"/>
              </a:defRPr>
            </a:pPr>
            <a:r>
              <a:t>真实 GPT-6 识图 → 公开网格映射 → MuJoCo 执行 → 执行后独立裁决；不是抓取实验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